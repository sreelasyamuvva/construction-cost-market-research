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Construction Cost Estimation</a:t>
            </a:r>
          </a:p>
          <a:p>
            <a:pPr>
              <a:spcBef>
                <a:spcPts val="1000"/>
              </a:spcBef>
              <a:defRPr sz="2300">
                <a:solidFill>
                  <a:srgbClr val="CDD7E1"/>
                </a:solidFill>
              </a:defRPr>
            </a:pPr>
            <a:r>
              <a:t>Market Research &amp; Validation</a:t>
            </a:r>
          </a:p>
          <a:p>
            <a:pPr>
              <a:spcBef>
                <a:spcPts val="2500"/>
              </a:spcBef>
              <a:defRPr sz="1500">
                <a:solidFill>
                  <a:srgbClr val="AFBECD"/>
                </a:solidFill>
              </a:defRPr>
            </a:pPr>
            <a:r>
              <a:t>Problem → Validation → Insights → KPIs → Solution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4434840"/>
            <a:ext cx="1143000" cy="73152"/>
          </a:xfrm>
          <a:prstGeom prst="rect">
            <a:avLst/>
          </a:prstGeom>
          <a:solidFill>
            <a:srgbClr val="E19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4709160"/>
            <a:ext cx="233211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2"/>
                </a:solidFill>
              </a:defRPr>
            </a:pPr>
            <a:r>
              <a:rPr dirty="0"/>
              <a:t>MRV Project | </a:t>
            </a:r>
            <a:r>
              <a:rPr lang="en-IN" dirty="0"/>
              <a:t>2</a:t>
            </a:r>
            <a:r>
              <a:rPr dirty="0"/>
              <a:t>6 September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518FE5-6780-16C9-5FE3-A850890A1E7E}"/>
              </a:ext>
            </a:extLst>
          </p:cNvPr>
          <p:cNvSpPr/>
          <p:nvPr/>
        </p:nvSpPr>
        <p:spPr>
          <a:xfrm>
            <a:off x="8348133" y="4709161"/>
            <a:ext cx="3200400" cy="173736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u="sng" dirty="0"/>
              <a:t>Team 9</a:t>
            </a:r>
          </a:p>
          <a:p>
            <a:pPr algn="ctr">
              <a:lnSpc>
                <a:spcPct val="150000"/>
              </a:lnSpc>
            </a:pPr>
            <a:r>
              <a:rPr lang="en-IN" dirty="0"/>
              <a:t>Muvva Sree Lasya</a:t>
            </a:r>
          </a:p>
          <a:p>
            <a:pPr algn="ctr"/>
            <a:r>
              <a:rPr lang="en-IN" dirty="0"/>
              <a:t>Srivatsan Ramesh</a:t>
            </a:r>
          </a:p>
          <a:p>
            <a:pPr algn="ctr"/>
            <a:r>
              <a:rPr lang="en-IN" dirty="0"/>
              <a:t>Muthiah Sivavelan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6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The research focuses on homeowners constructing a new house.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492240" cy="356616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900" b="1">
                <a:solidFill>
                  <a:srgbClr val="182538"/>
                </a:solidFill>
              </a:defRPr>
            </a:pPr>
            <a:r>
              <a:rPr dirty="0"/>
              <a:t>Core problem</a:t>
            </a:r>
            <a:endParaRPr lang="en-IN" dirty="0"/>
          </a:p>
          <a:p>
            <a:pPr algn="ctr">
              <a:defRPr sz="1900" b="1">
                <a:solidFill>
                  <a:srgbClr val="182538"/>
                </a:solidFill>
              </a:defRPr>
            </a:pP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182538"/>
                </a:solidFill>
                <a:latin typeface="Aptos"/>
              </a:defRPr>
            </a:pPr>
            <a:r>
              <a:rPr lang="en-IN" dirty="0"/>
              <a:t>People constructing houses struggle to accurately estimate their construction budgets and face challenges with monitoring their spending leading to cost overruns.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160520" cy="356616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700" b="1">
                <a:solidFill>
                  <a:srgbClr val="182538"/>
                </a:solidFill>
              </a:defRPr>
            </a:pPr>
            <a:r>
              <a:rPr dirty="0"/>
              <a:t>Research objectives</a:t>
            </a:r>
          </a:p>
          <a:p>
            <a:pPr>
              <a:spcAft>
                <a:spcPts val="900"/>
              </a:spcAft>
              <a:defRPr sz="1600">
                <a:solidFill>
                  <a:srgbClr val="182538"/>
                </a:solidFill>
                <a:latin typeface="Aptos"/>
              </a:defRPr>
            </a:pPr>
            <a:r>
              <a:rPr dirty="0"/>
              <a:t>• Validate whether cost overruns are a recurring experience.</a:t>
            </a:r>
          </a:p>
          <a:p>
            <a:pPr>
              <a:spcAft>
                <a:spcPts val="900"/>
              </a:spcAft>
              <a:defRPr sz="1600">
                <a:solidFill>
                  <a:srgbClr val="182538"/>
                </a:solidFill>
                <a:latin typeface="Aptos"/>
              </a:defRPr>
            </a:pPr>
            <a:r>
              <a:rPr dirty="0"/>
              <a:t>• Identify the major sources of budget differences.</a:t>
            </a:r>
          </a:p>
          <a:p>
            <a:pPr>
              <a:spcAft>
                <a:spcPts val="900"/>
              </a:spcAft>
              <a:defRPr sz="1600">
                <a:solidFill>
                  <a:srgbClr val="182538"/>
                </a:solidFill>
                <a:latin typeface="Aptos"/>
              </a:defRPr>
            </a:pPr>
            <a:r>
              <a:rPr dirty="0"/>
              <a:t>• Understand current estimation and expense-tracking practices.</a:t>
            </a:r>
          </a:p>
          <a:p>
            <a:pPr>
              <a:spcAft>
                <a:spcPts val="900"/>
              </a:spcAft>
              <a:defRPr sz="1600">
                <a:solidFill>
                  <a:srgbClr val="182538"/>
                </a:solidFill>
                <a:latin typeface="Aptos"/>
              </a:defRPr>
            </a:pPr>
            <a:r>
              <a:rPr dirty="0"/>
              <a:t>• Assess demand for a reliable estimation tool.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t>2. How We Validated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Primary responses established the problem signal; the 100-record dataset supported deeper Tableau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46120" cy="150876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22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Primary survey responses</a:t>
            </a:r>
          </a:p>
          <a:p>
            <a:pPr algn="ctr">
              <a:defRPr sz="850">
                <a:solidFill>
                  <a:srgbClr val="64707D"/>
                </a:solidFill>
              </a:defRPr>
            </a:pPr>
            <a:r>
              <a:t>Actual collected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246120" cy="150876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100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Analysis records</a:t>
            </a:r>
          </a:p>
          <a:p>
            <a:pPr algn="ctr">
              <a:defRPr sz="850">
                <a:solidFill>
                  <a:srgbClr val="64707D"/>
                </a:solidFill>
              </a:defRPr>
            </a:pPr>
            <a:r>
              <a:t>Used for Tableau exploration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246120" cy="150876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12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Survey questions</a:t>
            </a:r>
          </a:p>
          <a:p>
            <a:pPr algn="ctr">
              <a:defRPr sz="850">
                <a:solidFill>
                  <a:srgbClr val="64707D"/>
                </a:solidFill>
              </a:defRPr>
            </a:pPr>
            <a:r>
              <a:t>Construction journey + solution demand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074920" cy="233172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600" b="1">
                <a:solidFill>
                  <a:srgbClr val="182538"/>
                </a:solidFill>
              </a:defRPr>
            </a:pPr>
            <a:r>
              <a:t>What we measured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Targeted people who had constructed a house, were constructing, or were planning to construct.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Questions covered budget, estimation method, confidence, final cost difference, causes, tracking and tool adoption.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337560"/>
            <a:ext cx="5303520" cy="233172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600" b="1">
                <a:solidFill>
                  <a:srgbClr val="182538"/>
                </a:solidFill>
              </a:defRPr>
            </a:pPr>
            <a:r>
              <a:rPr dirty="0"/>
              <a:t>How we interpret the evidence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rPr dirty="0"/>
              <a:t>• 22-response survey: directional validation of the problem.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rPr dirty="0"/>
              <a:t>• 100-record analysis dataset: quantitative distributions and KPI calculations.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t>3. Validation: The Problem Shows Up in Real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The primary survey and analysis dataset point in the same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68307" y="1435608"/>
            <a:ext cx="3337560" cy="141732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rPr dirty="0"/>
              <a:t>93%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rPr lang="en-IN" dirty="0"/>
              <a:t>Respondents </a:t>
            </a:r>
            <a:r>
              <a:rPr dirty="0"/>
              <a:t>reporting an overrun</a:t>
            </a:r>
          </a:p>
          <a:p>
            <a:pPr algn="ctr">
              <a:defRPr sz="850">
                <a:solidFill>
                  <a:srgbClr val="64707D"/>
                </a:solidFill>
              </a:defRPr>
            </a:pPr>
            <a:r>
              <a:rPr dirty="0"/>
              <a:t>93 of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2493" y="1435608"/>
            <a:ext cx="3337560" cy="141732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87%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Likely to use a reliable estimator</a:t>
            </a:r>
          </a:p>
          <a:p>
            <a:pPr algn="ctr">
              <a:defRPr sz="850">
                <a:solidFill>
                  <a:srgbClr val="64707D"/>
                </a:solidFill>
              </a:defRPr>
            </a:pPr>
            <a:r>
              <a:t>Analysis dataset</a:t>
            </a:r>
          </a:p>
        </p:txBody>
      </p:sp>
      <p:pic>
        <p:nvPicPr>
          <p:cNvPr id="8" name="Picture 7" descr="chart_over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71800"/>
            <a:ext cx="6492240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2971800"/>
            <a:ext cx="3977639" cy="315468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500" b="1">
                <a:solidFill>
                  <a:srgbClr val="182538"/>
                </a:solidFill>
              </a:defRPr>
            </a:pPr>
            <a:r>
              <a:t>What the distribution says</a:t>
            </a:r>
          </a:p>
          <a:p>
            <a:pPr>
              <a:spcAft>
                <a:spcPts val="900"/>
              </a:spcAft>
              <a:defRPr sz="1400">
                <a:solidFill>
                  <a:srgbClr val="182538"/>
                </a:solidFill>
                <a:latin typeface="Aptos"/>
              </a:defRPr>
            </a:pPr>
            <a:r>
              <a:t>• 55% reported the final cost was up to 10% higher.</a:t>
            </a:r>
          </a:p>
          <a:p>
            <a:pPr>
              <a:spcAft>
                <a:spcPts val="900"/>
              </a:spcAft>
              <a:defRPr sz="1400">
                <a:solidFill>
                  <a:srgbClr val="182538"/>
                </a:solidFill>
                <a:latin typeface="Aptos"/>
              </a:defRPr>
            </a:pPr>
            <a:r>
              <a:t>• 28% reported a 10–20% increase.</a:t>
            </a:r>
          </a:p>
          <a:p>
            <a:pPr>
              <a:spcAft>
                <a:spcPts val="900"/>
              </a:spcAft>
              <a:defRPr sz="1400">
                <a:solidFill>
                  <a:srgbClr val="182538"/>
                </a:solidFill>
                <a:latin typeface="Aptos"/>
              </a:defRPr>
            </a:pPr>
            <a:r>
              <a:t>• 10% reported an increase above 20%.</a:t>
            </a:r>
          </a:p>
          <a:p>
            <a:pPr>
              <a:spcAft>
                <a:spcPts val="900"/>
              </a:spcAft>
              <a:defRPr sz="1400">
                <a:solidFill>
                  <a:srgbClr val="182538"/>
                </a:solidFill>
                <a:latin typeface="Aptos"/>
              </a:defRPr>
            </a:pPr>
            <a:r>
              <a:t>• 7% were still under construction or did not know the final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t>4. What Drives the Cost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Multi-select responses reveal several interacting causes rather than one single driver.</a:t>
            </a:r>
          </a:p>
        </p:txBody>
      </p:sp>
      <p:pic>
        <p:nvPicPr>
          <p:cNvPr id="5" name="Picture 4" descr="chart_ca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903720" cy="4983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325880"/>
            <a:ext cx="3703320" cy="448056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450" b="1">
                <a:solidFill>
                  <a:srgbClr val="182538"/>
                </a:solidFill>
              </a:defRPr>
            </a:pPr>
            <a:r>
              <a:t>Most frequently reported causes</a:t>
            </a:r>
          </a:p>
          <a:p>
            <a:pPr>
              <a:spcAft>
                <a:spcPts val="900"/>
              </a:spcAft>
              <a:defRPr sz="1350">
                <a:solidFill>
                  <a:srgbClr val="182538"/>
                </a:solidFill>
                <a:latin typeface="Aptos"/>
              </a:defRPr>
            </a:pPr>
            <a:r>
              <a:t>• Construction delays — 50</a:t>
            </a:r>
          </a:p>
          <a:p>
            <a:pPr>
              <a:spcAft>
                <a:spcPts val="900"/>
              </a:spcAft>
              <a:defRPr sz="1350">
                <a:solidFill>
                  <a:srgbClr val="182538"/>
                </a:solidFill>
                <a:latin typeface="Aptos"/>
              </a:defRPr>
            </a:pPr>
            <a:r>
              <a:t>• Design / requirement changes — 46</a:t>
            </a:r>
          </a:p>
          <a:p>
            <a:pPr>
              <a:spcAft>
                <a:spcPts val="900"/>
              </a:spcAft>
              <a:defRPr sz="1350">
                <a:solidFill>
                  <a:srgbClr val="182538"/>
                </a:solidFill>
                <a:latin typeface="Aptos"/>
              </a:defRPr>
            </a:pPr>
            <a:r>
              <a:t>• Material price increases — 46</a:t>
            </a:r>
          </a:p>
          <a:p>
            <a:pPr>
              <a:spcAft>
                <a:spcPts val="900"/>
              </a:spcAft>
              <a:defRPr sz="1350">
                <a:solidFill>
                  <a:srgbClr val="182538"/>
                </a:solidFill>
                <a:latin typeface="Aptos"/>
              </a:defRPr>
            </a:pPr>
            <a:r>
              <a:t>• Labour cost changes — 46</a:t>
            </a:r>
          </a:p>
          <a:p>
            <a:pPr>
              <a:spcAft>
                <a:spcPts val="900"/>
              </a:spcAft>
              <a:defRPr sz="1350">
                <a:solidFill>
                  <a:srgbClr val="182538"/>
                </a:solidFill>
                <a:latin typeface="Aptos"/>
              </a:defRPr>
            </a:pPr>
            <a:r>
              <a:t>• Unexpected repairs/issues — 25</a:t>
            </a:r>
          </a:p>
          <a:p>
            <a:pPr>
              <a:spcAft>
                <a:spcPts val="900"/>
              </a:spcAft>
              <a:defRPr sz="1350">
                <a:solidFill>
                  <a:srgbClr val="182538"/>
                </a:solidFill>
                <a:latin typeface="Aptos"/>
              </a:defRPr>
            </a:pPr>
            <a:r>
              <a:t>• Additional/unplanned work —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89788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07D"/>
                </a:solidFill>
              </a:defRPr>
            </a:pPr>
            <a:r>
              <a:t>Counts are multi-select; one respondent can appear in several causes.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82409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rPr dirty="0"/>
              <a:t>5. Estimation Is Often Contractor-Led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The process relies heavily on external estimates and informal practices.</a:t>
            </a:r>
          </a:p>
        </p:txBody>
      </p:sp>
      <p:pic>
        <p:nvPicPr>
          <p:cNvPr id="5" name="Picture 4" descr="chart_esti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6294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325880"/>
            <a:ext cx="3886200" cy="438912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600" b="1">
                <a:solidFill>
                  <a:srgbClr val="182538"/>
                </a:solidFill>
              </a:defRPr>
            </a:pPr>
            <a:r>
              <a:t>Key finding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41% initially estimated through a contractor.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28% used a combination of sources.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78% were very or somewhat confident in their initial estimate.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Average estimation confidence score: 3.87 /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580644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5B82"/>
                </a:solidFill>
              </a:defRPr>
            </a:pPr>
            <a:r>
              <a:t>This creates a useful tension: confidence does not prevent overruns.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t>6. Budget Control Is Mostly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The tracking process is fragmented, while keeping within budget is difficult for many respondents.</a:t>
            </a:r>
          </a:p>
        </p:txBody>
      </p:sp>
      <p:pic>
        <p:nvPicPr>
          <p:cNvPr id="5" name="Picture 4" descr="chart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6294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325880"/>
            <a:ext cx="3886200" cy="438912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600" b="1">
                <a:solidFill>
                  <a:srgbClr val="182538"/>
                </a:solidFill>
              </a:defRPr>
            </a:pPr>
            <a:r>
              <a:t>Key finding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56% used notebook/manual records.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18% used Excel/Google Sheets.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14% did not actively track expenses.</a:t>
            </a:r>
          </a:p>
          <a:p>
            <a:pPr>
              <a:spcAft>
                <a:spcPts val="900"/>
              </a:spcAft>
              <a:defRPr sz="1500">
                <a:solidFill>
                  <a:srgbClr val="182538"/>
                </a:solidFill>
                <a:latin typeface="Aptos"/>
              </a:defRPr>
            </a:pPr>
            <a:r>
              <a:t>• 70% said staying within the planned budget was difficult or very difficult.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t>7. There Is Evidence of Solution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Respondents were asked about a reliable pre-construction cost estimator based on location, house size, materials and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200" y="1476756"/>
            <a:ext cx="3154680" cy="160020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rPr dirty="0"/>
              <a:t>87%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rPr dirty="0"/>
              <a:t>Probably / definitely would use</a:t>
            </a:r>
          </a:p>
          <a:p>
            <a:pPr algn="ctr">
              <a:defRPr sz="850">
                <a:solidFill>
                  <a:srgbClr val="64707D"/>
                </a:solidFill>
              </a:defRPr>
            </a:pPr>
            <a:r>
              <a:rPr dirty="0"/>
              <a:t>100-record analysis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2293" y="1476756"/>
            <a:ext cx="3154680" cy="160020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13%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Not sure</a:t>
            </a:r>
          </a:p>
          <a:p>
            <a:pPr algn="ctr">
              <a:defRPr sz="850">
                <a:solidFill>
                  <a:srgbClr val="64707D"/>
                </a:solidFill>
              </a:defRPr>
            </a:pPr>
            <a:r>
              <a:t>100-record analysis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66160"/>
            <a:ext cx="10378440" cy="196596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900" b="1">
                <a:solidFill>
                  <a:srgbClr val="182538"/>
                </a:solidFill>
              </a:defRPr>
            </a:pPr>
            <a:r>
              <a:t>Implication for solution design</a:t>
            </a:r>
          </a:p>
          <a:p>
            <a:pPr>
              <a:spcAft>
                <a:spcPts val="900"/>
              </a:spcAft>
              <a:defRPr sz="1800">
                <a:solidFill>
                  <a:srgbClr val="182538"/>
                </a:solidFill>
                <a:latin typeface="Aptos"/>
              </a:defRPr>
            </a:pPr>
            <a:r>
              <a:t>• The strongest validated direction is not simply “track spending”; respondents also want better confidence before construction starts.</a:t>
            </a:r>
          </a:p>
          <a:p>
            <a:pPr>
              <a:spcAft>
                <a:spcPts val="900"/>
              </a:spcAft>
              <a:defRPr sz="1800">
                <a:solidFill>
                  <a:srgbClr val="182538"/>
                </a:solidFill>
                <a:latin typeface="Aptos"/>
              </a:defRPr>
            </a:pPr>
            <a:r>
              <a:t>• A solution can therefore connect pre-construction estimation with ongoing budget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t>8. Primary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Five KPIs summarize the validated problem using the 100-record analysis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743200" cy="169164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93%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Budget Overrun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325880"/>
            <a:ext cx="2743200" cy="169164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10.38%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Average Budget Overrun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25880"/>
            <a:ext cx="2743200" cy="169164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10.75%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Significant Overrun Rate (&gt;20%)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2743200" cy="169164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rPr dirty="0"/>
              <a:t>41%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rPr dirty="0"/>
              <a:t>Unexpected Expense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3566160"/>
            <a:ext cx="2743200" cy="169164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315B82"/>
                </a:solidFill>
                <a:latin typeface="Aptos Display"/>
              </a:defRPr>
            </a:pPr>
            <a:r>
              <a:t>3.87 / 5</a:t>
            </a:r>
          </a:p>
          <a:p>
            <a:pPr algn="ctr">
              <a:defRPr sz="1150" b="1">
                <a:solidFill>
                  <a:srgbClr val="182538"/>
                </a:solidFill>
              </a:defRPr>
            </a:pPr>
            <a:r>
              <a:t>Estimation Confidence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566160"/>
            <a:ext cx="4572000" cy="1691640"/>
          </a:xfrm>
          <a:prstGeom prst="round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Ins="164592" rtlCol="0" anchor="ctr"/>
          <a:lstStyle/>
          <a:p>
            <a:pPr algn="ctr">
              <a:defRPr sz="1350" b="1">
                <a:solidFill>
                  <a:srgbClr val="182538"/>
                </a:solidFill>
              </a:defRPr>
            </a:pPr>
            <a:r>
              <a:t>Method notes</a:t>
            </a:r>
          </a:p>
          <a:p>
            <a:pPr>
              <a:spcAft>
                <a:spcPts val="900"/>
              </a:spcAft>
              <a:defRPr sz="1250">
                <a:solidFill>
                  <a:srgbClr val="182538"/>
                </a:solidFill>
                <a:latin typeface="Aptos"/>
              </a:defRPr>
            </a:pPr>
            <a:r>
              <a:t>• 93%: any reported overrun</a:t>
            </a:r>
          </a:p>
          <a:p>
            <a:pPr>
              <a:spcAft>
                <a:spcPts val="900"/>
              </a:spcAft>
              <a:defRPr sz="1250">
                <a:solidFill>
                  <a:srgbClr val="182538"/>
                </a:solidFill>
                <a:latin typeface="Aptos"/>
              </a:defRPr>
            </a:pPr>
            <a:r>
              <a:t>• 10.38%: average using representative range values</a:t>
            </a:r>
          </a:p>
          <a:p>
            <a:pPr>
              <a:spcAft>
                <a:spcPts val="900"/>
              </a:spcAft>
              <a:defRPr sz="1250">
                <a:solidFill>
                  <a:srgbClr val="182538"/>
                </a:solidFill>
                <a:latin typeface="Aptos"/>
              </a:defRPr>
            </a:pPr>
            <a:r>
              <a:t>• 10.75%: &gt;20% among known final-cost responses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B42"/>
                </a:solidFill>
                <a:latin typeface="Aptos Display"/>
              </a:rPr>
              <a:t>9. Supporting Marketing &amp; Validation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770"/>
                </a:solidFill>
                <a:latin typeface="Aptos"/>
              </a:rPr>
              <a:t>These metrics connect the problem evidence with the potential value and adoption of the proposed solution.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1783080"/>
          </a:xfrm>
          <a:prstGeom prst="round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05E88"/>
                </a:solidFill>
                <a:latin typeface="Aptos Display"/>
              </a:rPr>
              <a:t>41%</a:t>
            </a:r>
          </a:p>
          <a:p>
            <a:pPr algn="ctr"/>
            <a:r>
              <a:rPr sz="1200" b="1">
                <a:solidFill>
                  <a:srgbClr val="192B42"/>
                </a:solidFill>
                <a:latin typeface="Aptos"/>
              </a:rPr>
              <a:t>Cost-Control Pain Rate</a:t>
            </a:r>
          </a:p>
          <a:p>
            <a:pPr algn="ctr"/>
            <a:r>
              <a:rPr sz="950">
                <a:solidFill>
                  <a:srgbClr val="5F6770"/>
                </a:solidFill>
                <a:latin typeface="Aptos"/>
              </a:rPr>
              <a:t>Share experiencing both a cost overrun and unexpected/unplanned expenses or repairs.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257800" cy="1783080"/>
          </a:xfrm>
          <a:prstGeom prst="round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05E88"/>
                </a:solidFill>
                <a:latin typeface="Aptos Display"/>
              </a:rPr>
              <a:t>87%</a:t>
            </a:r>
          </a:p>
          <a:p>
            <a:pPr algn="ctr"/>
            <a:r>
              <a:rPr sz="1200" b="1">
                <a:solidFill>
                  <a:srgbClr val="192B42"/>
                </a:solidFill>
                <a:latin typeface="Aptos"/>
              </a:rPr>
              <a:t>Solution Adoption Rate</a:t>
            </a:r>
          </a:p>
          <a:p>
            <a:pPr algn="ctr"/>
            <a:r>
              <a:rPr sz="950">
                <a:solidFill>
                  <a:srgbClr val="5F6770"/>
                </a:solidFill>
                <a:latin typeface="Aptos"/>
              </a:rPr>
              <a:t>Share who would probably or definitely use a reliable cost-estimation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5257800" cy="1783080"/>
          </a:xfrm>
          <a:prstGeom prst="round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05E88"/>
                </a:solidFill>
                <a:latin typeface="Aptos Display"/>
              </a:rPr>
              <a:t>70%</a:t>
            </a:r>
          </a:p>
          <a:p>
            <a:pPr algn="ctr"/>
            <a:r>
              <a:rPr sz="1200" b="1">
                <a:solidFill>
                  <a:srgbClr val="192B42"/>
                </a:solidFill>
                <a:latin typeface="Aptos"/>
              </a:rPr>
              <a:t>Budget Control Difficulty Rate</a:t>
            </a:r>
          </a:p>
          <a:p>
            <a:pPr algn="ctr"/>
            <a:r>
              <a:rPr sz="950">
                <a:solidFill>
                  <a:srgbClr val="5F6770"/>
                </a:solidFill>
                <a:latin typeface="Aptos"/>
              </a:rPr>
              <a:t>Share finding it difficult or very difficult to stay within the planned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57600"/>
            <a:ext cx="5257800" cy="1783080"/>
          </a:xfrm>
          <a:prstGeom prst="roundRect">
            <a:avLst/>
          </a:prstGeom>
          <a:solidFill>
            <a:srgbClr val="EFF4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05E88"/>
                </a:solidFill>
                <a:latin typeface="Aptos Display"/>
              </a:rPr>
              <a:t>73%</a:t>
            </a:r>
          </a:p>
          <a:p>
            <a:pPr algn="ctr"/>
            <a:r>
              <a:rPr sz="1200" b="1">
                <a:solidFill>
                  <a:srgbClr val="192B42"/>
                </a:solidFill>
                <a:latin typeface="Aptos"/>
              </a:rPr>
              <a:t>Active Budget Monitoring Rate</a:t>
            </a:r>
          </a:p>
          <a:p>
            <a:pPr algn="ctr"/>
            <a:r>
              <a:rPr sz="950">
                <a:solidFill>
                  <a:srgbClr val="5F6770"/>
                </a:solidFill>
                <a:latin typeface="Aptos"/>
              </a:rPr>
              <a:t>Share regularly comparing actual spending with the planned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92B42"/>
                </a:solidFill>
                <a:latin typeface="Aptos"/>
              </a:rPr>
              <a:t>Together, the metrics indicate a clear pain point, difficulty in budget control, and initial interest in a 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F6770"/>
                </a:solidFill>
                <a:latin typeface="Aptos"/>
              </a:rPr>
              <a:t>Market Research &amp; Validation | Construction Cost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F67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538"/>
                </a:solidFill>
                <a:latin typeface="Aptos Display"/>
              </a:defRPr>
            </a:pPr>
            <a:r>
              <a:t>10.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07D"/>
                </a:solidFill>
                <a:latin typeface="Aptos"/>
              </a:defRPr>
            </a:pPr>
            <a:r>
              <a:t>What the evidence means for the problem.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438912" cy="438912"/>
          </a:xfrm>
          <a:prstGeom prst="ellipse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216152"/>
            <a:ext cx="9966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538"/>
                </a:solidFill>
              </a:defRPr>
            </a:pPr>
            <a:r>
              <a:t>Overruns are common</a:t>
            </a:r>
          </a:p>
          <a:p>
            <a:pPr>
              <a:defRPr sz="1150">
                <a:solidFill>
                  <a:srgbClr val="64707D"/>
                </a:solidFill>
              </a:defRPr>
            </a:pPr>
            <a:r>
              <a:t>93% of the 100-record analysis dataset reported final costs above their initial estimate.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57400"/>
            <a:ext cx="438912" cy="438912"/>
          </a:xfrm>
          <a:prstGeom prst="ellipse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039112"/>
            <a:ext cx="9966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538"/>
                </a:solidFill>
              </a:defRPr>
            </a:pPr>
            <a:r>
              <a:t>The problem is multi-causal</a:t>
            </a:r>
          </a:p>
          <a:p>
            <a:pPr>
              <a:defRPr sz="1150">
                <a:solidFill>
                  <a:srgbClr val="64707D"/>
                </a:solidFill>
              </a:defRPr>
            </a:pPr>
            <a:r>
              <a:t>Delays, design changes, material prices and labour changes were each reported by 46–50 respondents.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80360"/>
            <a:ext cx="438912" cy="438912"/>
          </a:xfrm>
          <a:prstGeom prst="ellipse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862072"/>
            <a:ext cx="9966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538"/>
                </a:solidFill>
              </a:defRPr>
            </a:pPr>
            <a:r>
              <a:t>Unexpected costs matter</a:t>
            </a:r>
          </a:p>
          <a:p>
            <a:pPr>
              <a:defRPr sz="1150">
                <a:solidFill>
                  <a:srgbClr val="64707D"/>
                </a:solidFill>
              </a:defRPr>
            </a:pPr>
            <a:r>
              <a:t>41% reported unexpected repairs/issues or additional/unplanned work.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03320"/>
            <a:ext cx="438912" cy="438912"/>
          </a:xfrm>
          <a:prstGeom prst="ellipse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685032"/>
            <a:ext cx="9966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538"/>
                </a:solidFill>
              </a:defRPr>
            </a:pPr>
            <a:r>
              <a:t>Confidence ≠ accuracy</a:t>
            </a:r>
          </a:p>
          <a:p>
            <a:pPr>
              <a:defRPr sz="1150">
                <a:solidFill>
                  <a:srgbClr val="64707D"/>
                </a:solidFill>
              </a:defRPr>
            </a:pPr>
            <a:r>
              <a:t>Average confidence was 3.87/5 even though overruns were widespread.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526280"/>
            <a:ext cx="438912" cy="438912"/>
          </a:xfrm>
          <a:prstGeom prst="ellipse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507992"/>
            <a:ext cx="9966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538"/>
                </a:solidFill>
              </a:defRPr>
            </a:pPr>
            <a:r>
              <a:t>Current control is manual</a:t>
            </a:r>
          </a:p>
          <a:p>
            <a:pPr>
              <a:defRPr sz="1150">
                <a:solidFill>
                  <a:srgbClr val="64707D"/>
                </a:solidFill>
              </a:defRPr>
            </a:pPr>
            <a:r>
              <a:t>56% relied on notebooks/manual records and 70% found budget control difficult.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349240"/>
            <a:ext cx="438912" cy="438912"/>
          </a:xfrm>
          <a:prstGeom prst="ellipse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330952"/>
            <a:ext cx="9966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538"/>
                </a:solidFill>
              </a:defRPr>
            </a:pPr>
            <a:r>
              <a:t>There is solution interest</a:t>
            </a:r>
          </a:p>
          <a:p>
            <a:pPr>
              <a:defRPr sz="1150">
                <a:solidFill>
                  <a:srgbClr val="64707D"/>
                </a:solidFill>
              </a:defRPr>
            </a:pPr>
            <a:r>
              <a:t>87% of the analysis dataset and 91% of the primary survey indicated they would probably/definitely use a reliable estimator.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4134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11</a:t>
            </a:r>
            <a:r>
              <a:rPr lang="en-IN" dirty="0"/>
              <a:t>. Proposed</a:t>
            </a:r>
            <a:r>
              <a:rPr dirty="0"/>
              <a:t>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469880" cy="3063240"/>
          </a:xfrm>
          <a:prstGeom prst="roundRect">
            <a:avLst/>
          </a:prstGeom>
          <a:solidFill>
            <a:srgbClr val="233348"/>
          </a:solidFill>
          <a:ln>
            <a:solidFill>
              <a:srgbClr val="465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01168" rIns="201168" rtlCol="0" anchor="ctr"/>
          <a:lstStyle/>
          <a:p>
            <a:pPr>
              <a:spcBef>
                <a:spcPts val="800"/>
              </a:spcBef>
              <a:defRPr sz="1900" b="1">
                <a:solidFill>
                  <a:srgbClr val="FFFFFF"/>
                </a:solidFill>
              </a:defRPr>
            </a:pPr>
            <a:r>
              <a:rPr lang="en-US" dirty="0"/>
              <a:t>Smart Construction Cost Estimation Tool:</a:t>
            </a:r>
            <a:endParaRPr lang="en-US" sz="2000" dirty="0"/>
          </a:p>
          <a:p>
            <a:pPr>
              <a:spcBef>
                <a:spcPts val="1000"/>
              </a:spcBef>
              <a:defRPr sz="1250">
                <a:solidFill>
                  <a:srgbClr val="CDD7E1"/>
                </a:solidFill>
              </a:defRPr>
            </a:pPr>
            <a:r>
              <a:rPr lang="en-US" sz="2000" dirty="0"/>
              <a:t>A tool that estimates total construction cost using location, house size, material choices, </a:t>
            </a:r>
            <a:r>
              <a:rPr lang="en-US" sz="2000" dirty="0" err="1"/>
              <a:t>labour</a:t>
            </a:r>
            <a:r>
              <a:rPr lang="en-US" sz="2000" dirty="0"/>
              <a:t>, contractor inputs and other project requirements. Once construction begins, users can monitor their actual spending and compare it with the planned budget, with variance tracking and alerts.</a:t>
            </a:r>
          </a:p>
          <a:p>
            <a:pPr>
              <a:spcBef>
                <a:spcPts val="1000"/>
              </a:spcBef>
              <a:defRPr sz="1250">
                <a:solidFill>
                  <a:srgbClr val="CDD7E1"/>
                </a:solidFill>
              </a:defRPr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4983480"/>
            <a:ext cx="1107512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953E"/>
                </a:solidFill>
              </a:defRPr>
            </a:pPr>
            <a:r>
              <a:rPr dirty="0"/>
              <a:t>Conclusion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The research supports a problem around both pre-construction cost estimation and ongoing budget control. The next step is to prototype a solution that connects the two rather than treating them as separate tasks.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7D"/>
                </a:solidFill>
              </a:defRPr>
            </a:pPr>
            <a:r>
              <a:t>Market Research &amp; Validation | Construction Cost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0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1127</Words>
  <Application>Microsoft Office PowerPoint</Application>
  <PresentationFormat>Widescreen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Muvva Sree Lasya</cp:lastModifiedBy>
  <cp:revision>8</cp:revision>
  <dcterms:created xsi:type="dcterms:W3CDTF">2013-01-27T09:14:16Z</dcterms:created>
  <dcterms:modified xsi:type="dcterms:W3CDTF">2026-09-27T10:47:53Z</dcterms:modified>
  <cp:category/>
</cp:coreProperties>
</file>